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09728"/>
            <a:ext cx="1645920" cy="4924044"/>
          </a:xfrm>
          <a:prstGeom prst="rect">
            <a:avLst/>
          </a:prstGeom>
          <a:solidFill>
            <a:srgbClr val="0A1726"/>
          </a:solidFill>
          <a:ln w="12700">
            <a:solidFill>
              <a:srgbClr val="0A17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16368" y="164592"/>
            <a:ext cx="1609344" cy="530352"/>
          </a:xfrm>
          <a:prstGeom prst="rect">
            <a:avLst/>
          </a:prstGeom>
          <a:solidFill>
            <a:srgbClr val="4D9FEC">
              <a:alpha val="75000"/>
            </a:srgbClr>
          </a:solidFill>
          <a:ln w="12700">
            <a:solidFill>
              <a:srgbClr val="4D9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6368" y="164592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516368" y="763524"/>
            <a:ext cx="1609344" cy="530352"/>
          </a:xfrm>
          <a:prstGeom prst="rect">
            <a:avLst/>
          </a:prstGeom>
          <a:solidFill>
            <a:srgbClr val="00C897">
              <a:alpha val="75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16368" y="763524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16368" y="1362456"/>
            <a:ext cx="1609344" cy="530352"/>
          </a:xfrm>
          <a:prstGeom prst="rect">
            <a:avLst/>
          </a:prstGeom>
          <a:solidFill>
            <a:srgbClr val="00C2CB">
              <a:alpha val="7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16368" y="1362456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16368" y="1961388"/>
            <a:ext cx="1609344" cy="530352"/>
          </a:xfrm>
          <a:prstGeom prst="rect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196138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16368" y="2560320"/>
            <a:ext cx="1609344" cy="530352"/>
          </a:xfrm>
          <a:prstGeom prst="rect">
            <a:avLst/>
          </a:prstGeom>
          <a:solidFill>
            <a:srgbClr val="FF9A3C">
              <a:alpha val="75000"/>
            </a:srgbClr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256032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16368" y="3159252"/>
            <a:ext cx="1609344" cy="530352"/>
          </a:xfrm>
          <a:prstGeom prst="rect">
            <a:avLst/>
          </a:prstGeom>
          <a:solidFill>
            <a:srgbClr val="FF4D6D">
              <a:alpha val="75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3159252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16368" y="3758184"/>
            <a:ext cx="1609344" cy="530352"/>
          </a:xfrm>
          <a:prstGeom prst="rect">
            <a:avLst/>
          </a:prstGeom>
          <a:solidFill>
            <a:srgbClr val="B06DFF">
              <a:alpha val="75000"/>
            </a:srgbClr>
          </a:solidFill>
          <a:ln w="12700">
            <a:solidFill>
              <a:srgbClr val="B06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3758184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16368" y="4357116"/>
            <a:ext cx="1609344" cy="530352"/>
          </a:xfrm>
          <a:prstGeom prst="rect">
            <a:avLst/>
          </a:prstGeom>
          <a:solidFill>
            <a:srgbClr val="FF6B9D">
              <a:alpha val="75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68" y="4357116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822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14173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457200" y="24688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integrada en Kubernetes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04672" cy="2743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461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371600" y="3246120"/>
            <a:ext cx="804672" cy="2743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32461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0" y="3246120"/>
            <a:ext cx="804672" cy="2743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32461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3246120"/>
            <a:ext cx="804672" cy="2743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2461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0" y="3246120"/>
            <a:ext cx="804672" cy="2743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32461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0" y="3246120"/>
            <a:ext cx="804672" cy="2743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2461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43600" y="3246120"/>
            <a:ext cx="804672" cy="2743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2461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— CORREGIDO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Clase: 90 min (básico) · 2h (con Ansible)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DevSecOps — 8 Etapas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02336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57200" cy="868680"/>
          </a:xfrm>
          <a:prstGeom prst="rect">
            <a:avLst/>
          </a:prstGeom>
          <a:solidFill>
            <a:srgbClr val="4D9FEC">
              <a:alpha val="80000"/>
            </a:srgbClr>
          </a:solidFill>
          <a:ln w="12700">
            <a:solidFill>
              <a:srgbClr val="4D9F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014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9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441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— identificar riesgos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402336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65960"/>
            <a:ext cx="457200" cy="868680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659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020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3500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en Kubernetes, no en el código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02336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71800"/>
            <a:ext cx="457200" cy="868680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718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3558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Trivy: escaneo de CVEs en la imagen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977640"/>
            <a:ext cx="402336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77640"/>
            <a:ext cx="457200" cy="86868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776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3616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PSA: rechazar pods inseguros (fix namespace YAML)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960120"/>
            <a:ext cx="402336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960120"/>
            <a:ext cx="457200" cy="868680"/>
          </a:xfrm>
          <a:prstGeom prst="rect">
            <a:avLst/>
          </a:prstGeom>
          <a:solidFill>
            <a:srgbClr val="FF9A3C">
              <a:alpha val="80000"/>
            </a:srgbClr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960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1014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13441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NetworkPolicy: deny-all + allow-DNS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1965960"/>
            <a:ext cx="402336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965960"/>
            <a:ext cx="457200" cy="868680"/>
          </a:xfrm>
          <a:prstGeom prst="rect">
            <a:avLst/>
          </a:prstGeom>
          <a:solidFill>
            <a:srgbClr val="B06DFF">
              <a:alpha val="80000"/>
            </a:srgbClr>
          </a:solidFill>
          <a:ln w="12700">
            <a:solidFill>
              <a:srgbClr val="B06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9659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2020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23500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mínimo privilegio con ServiceAccount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971800"/>
            <a:ext cx="402336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971800"/>
            <a:ext cx="457200" cy="868680"/>
          </a:xfrm>
          <a:prstGeom prst="rect">
            <a:avLst/>
          </a:prstGeom>
          <a:solidFill>
            <a:srgbClr val="FF4D6D">
              <a:alpha val="8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9718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57800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3558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Falco: runtime security (fix: pod correcto por nodo)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977640"/>
            <a:ext cx="4023360" cy="86868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977640"/>
            <a:ext cx="457200" cy="868680"/>
          </a:xfrm>
          <a:prstGeom prst="rect">
            <a:avLst/>
          </a:prstGeom>
          <a:solidFill>
            <a:srgbClr val="FF6B9D">
              <a:alpha val="8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9776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57800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43616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Grafana: Prometheus (PromQL) vs Loki (LogQL) — fix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10972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explicar DevSecOps con ejemplos del mundo real?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749808"/>
            <a:ext cx="2084832" cy="1993392"/>
          </a:xfrm>
          <a:prstGeom prst="rect">
            <a:avLst/>
          </a:prstGeom>
          <a:solidFill>
            <a:srgbClr val="132236"/>
          </a:solidFill>
          <a:ln w="19050">
            <a:solidFill>
              <a:srgbClr val="4D9F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749808"/>
            <a:ext cx="2084832" cy="457200"/>
          </a:xfrm>
          <a:prstGeom prst="rect">
            <a:avLst/>
          </a:prstGeom>
          <a:solidFill>
            <a:srgbClr val="4D9FEC">
              <a:alpha val="80000"/>
            </a:srgbClr>
          </a:solidFill>
          <a:ln w="12700">
            <a:solidFill>
              <a:srgbClr val="4D9F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863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709928" y="768096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D9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Arquitecto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527048"/>
            <a:ext cx="1938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construir un edificio, el arquitecto revisa los planos buscando dónde podrían entrar ladrones. Threat Modeling = revisar el diseño del sistema ANTES de escribir código.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14016" y="749808"/>
            <a:ext cx="2084832" cy="1993392"/>
          </a:xfrm>
          <a:prstGeom prst="rect">
            <a:avLst/>
          </a:prstGeom>
          <a:solidFill>
            <a:srgbClr val="132236"/>
          </a:solidFill>
          <a:ln w="19050">
            <a:solidFill>
              <a:srgbClr val="00C89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14016" y="749808"/>
            <a:ext cx="2084832" cy="457200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7863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CODE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22776" y="768096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87168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Llaves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87168" y="1527048"/>
            <a:ext cx="1938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guardas la llave de tu casa bajo el tapete (donde cualquiera la ve). Los Secrets de K8s son el llavero seguro — no en el código ni en variables hardcodeadas.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26864" y="749808"/>
            <a:ext cx="2084832" cy="1993392"/>
          </a:xfrm>
          <a:prstGeom prst="rect">
            <a:avLst/>
          </a:prstGeom>
          <a:solidFill>
            <a:srgbClr val="132236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749808"/>
            <a:ext cx="2084832" cy="457200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7863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BUILD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35624" y="768096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00016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mecánica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0016" y="1527048"/>
            <a:ext cx="1938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salir de viaje llevas el auto al mecánico. Trivy hace el diagnóstico de tu imagen: busca piezas defectuosas conocidas (CVEs) antes de salir a producción.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39712" y="749808"/>
            <a:ext cx="2084832" cy="1993392"/>
          </a:xfrm>
          <a:prstGeom prst="rect">
            <a:avLst/>
          </a:prstGeom>
          <a:solidFill>
            <a:srgbClr val="132236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39712" y="749808"/>
            <a:ext cx="2084832" cy="45720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7863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DEPLOY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348472" y="768096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🦺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12864" y="124358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de fábrica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12864" y="1527048"/>
            <a:ext cx="1938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fábrica no puedes entrar sin casco, chaleco y botas. PSA = las normas de seguridad del cluster: si un pod no las cumple, no entra.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2926080"/>
            <a:ext cx="2084832" cy="1993392"/>
          </a:xfrm>
          <a:prstGeom prst="rect">
            <a:avLst/>
          </a:prstGeom>
          <a:solidFill>
            <a:srgbClr val="132236"/>
          </a:solidFill>
          <a:ln w="19050">
            <a:solidFill>
              <a:srgbClr val="FF9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2926080"/>
            <a:ext cx="2084832" cy="457200"/>
          </a:xfrm>
          <a:prstGeom prst="rect">
            <a:avLst/>
          </a:prstGeom>
          <a:solidFill>
            <a:srgbClr val="FF9A3C">
              <a:alpha val="80000"/>
            </a:srgbClr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RELEASE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709928" y="2944368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74320" y="34198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 corporativo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4320" y="3703320"/>
            <a:ext cx="1938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elevador solo te lleva a los pisos donde tienes acceso. NetworkPolicy = las puertas del edificio: solo el tráfico autorizado puede pasar entre namespaces.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14016" y="2926080"/>
            <a:ext cx="2084832" cy="1993392"/>
          </a:xfrm>
          <a:prstGeom prst="rect">
            <a:avLst/>
          </a:prstGeom>
          <a:solidFill>
            <a:srgbClr val="132236"/>
          </a:solidFill>
          <a:ln w="19050">
            <a:solidFill>
              <a:srgbClr val="B06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14016" y="2926080"/>
            <a:ext cx="2084832" cy="457200"/>
          </a:xfrm>
          <a:prstGeom prst="rect">
            <a:avLst/>
          </a:prstGeom>
          <a:solidFill>
            <a:srgbClr val="B06DFF">
              <a:alpha val="80000"/>
            </a:srgbClr>
          </a:solidFill>
          <a:ln w="12700">
            <a:solidFill>
              <a:srgbClr val="B06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OPERATE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922776" y="2944368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487168" y="34198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487168" y="3703320"/>
            <a:ext cx="1938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contador tiene acceso a los cajones de finanzas, no a los de RRHH. RBAC = cada ServiceAccount solo puede ver y tocar lo que necesita para su trabajo.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26864" y="2926080"/>
            <a:ext cx="2084832" cy="1993392"/>
          </a:xfrm>
          <a:prstGeom prst="rect">
            <a:avLst/>
          </a:prstGeom>
          <a:solidFill>
            <a:srgbClr val="132236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26864" y="2926080"/>
            <a:ext cx="2084832" cy="457200"/>
          </a:xfrm>
          <a:prstGeom prst="rect">
            <a:avLst/>
          </a:prstGeom>
          <a:solidFill>
            <a:srgbClr val="FF4D6D">
              <a:alpha val="8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OPERATE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135624" y="2944368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700016" y="34198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 en tiempo real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00016" y="3703320"/>
            <a:ext cx="1938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guardia con cámaras detecta al intruso en el momento en que entra a una sala restringida. Falco = el guardia que dispara la alarma cuando un pod hace algo sospechoso.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39712" y="2926080"/>
            <a:ext cx="2084832" cy="1993392"/>
          </a:xfrm>
          <a:prstGeom prst="rect">
            <a:avLst/>
          </a:prstGeom>
          <a:solidFill>
            <a:srgbClr val="132236"/>
          </a:solidFill>
          <a:ln w="19050">
            <a:solidFill>
              <a:srgbClr val="FF6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39712" y="2926080"/>
            <a:ext cx="2084832" cy="457200"/>
          </a:xfrm>
          <a:prstGeom prst="rect">
            <a:avLst/>
          </a:prstGeom>
          <a:solidFill>
            <a:srgbClr val="FF6B9D">
              <a:alpha val="8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MONITOR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348472" y="2944368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912864" y="34198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Cabina del piloto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912864" y="3703320"/>
            <a:ext cx="19385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piloto ve velocidad/altitud en sus métricas (Prometheus/PromQL) y la caja negra guarda los logs de todo lo que pasó (Loki/LogQL). Nunca mezcles ambos paneles.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9FEC"/>
          </a:solidFill>
          <a:ln w="12700">
            <a:solidFill>
              <a:srgbClr val="4D9F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4D9FEC"/>
          </a:solidFill>
          <a:ln w="12700">
            <a:solidFill>
              <a:srgbClr val="4D9F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del Cluster — Nuestro entorno de práctica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96112"/>
            <a:ext cx="4023360" cy="1143000"/>
          </a:xfrm>
          <a:prstGeom prst="rect">
            <a:avLst/>
          </a:prstGeom>
          <a:solidFill>
            <a:srgbClr val="132236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96112"/>
            <a:ext cx="4023360" cy="292608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k8s-master01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192.168.109.200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96112"/>
            <a:ext cx="4023360" cy="1143000"/>
          </a:xfrm>
          <a:prstGeom prst="rect">
            <a:avLst/>
          </a:prstGeom>
          <a:solidFill>
            <a:srgbClr val="132236"/>
          </a:solidFill>
          <a:ln w="19050">
            <a:solidFill>
              <a:srgbClr val="00C89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96112"/>
            <a:ext cx="4023360" cy="29260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14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k8s-worker01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192.168.109.201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221992"/>
            <a:ext cx="4023360" cy="1143000"/>
          </a:xfrm>
          <a:prstGeom prst="rect">
            <a:avLst/>
          </a:prstGeom>
          <a:solidFill>
            <a:srgbClr val="132236"/>
          </a:solidFill>
          <a:ln w="19050">
            <a:solidFill>
              <a:srgbClr val="00C89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21992"/>
            <a:ext cx="4023360" cy="29260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k8s-worker02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192.168.109.202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221992"/>
            <a:ext cx="4023360" cy="1143000"/>
          </a:xfrm>
          <a:prstGeom prst="rect">
            <a:avLst/>
          </a:prstGeom>
          <a:solidFill>
            <a:srgbClr val="132236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21992"/>
            <a:ext cx="4023360" cy="29260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Server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192.168.109.210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instalado: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0416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Kubernetes v1.28.15 · containerd 1.7.28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" y="42428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CNI: Calico · Runtime security: Falco v0.43.0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44439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Monitoring: Prometheus · Loki · Grafana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" y="46451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CI/CD: Tekton · Argo CD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9FEC"/>
          </a:solidFill>
          <a:ln w="12700">
            <a:solidFill>
              <a:srgbClr val="4D9F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4D9FEC"/>
          </a:solidFill>
          <a:ln w="12700">
            <a:solidFill>
              <a:srgbClr val="4D9F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PLAN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amenazas, activos y controles ANTES de escribir código.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2651760" cy="1188720"/>
          </a:xfrm>
          <a:prstGeom prst="rect">
            <a:avLst/>
          </a:prstGeom>
          <a:solidFill>
            <a:srgbClr val="132236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27632"/>
            <a:ext cx="2651760" cy="320040"/>
          </a:xfrm>
          <a:prstGeom prst="rect">
            <a:avLst/>
          </a:prstGeom>
          <a:solidFill>
            <a:srgbClr val="FF4D6D">
              <a:alpha val="8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5506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SPOOFING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039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puede falsificar identidad?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627632"/>
            <a:ext cx="2651760" cy="1188720"/>
          </a:xfrm>
          <a:prstGeom prst="rect">
            <a:avLst/>
          </a:prstGeom>
          <a:solidFill>
            <a:srgbClr val="132236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627632"/>
            <a:ext cx="2651760" cy="32004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5506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TAMPERING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46120" y="2039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puede modificar datos en tránsito?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627632"/>
            <a:ext cx="2651760" cy="1188720"/>
          </a:xfrm>
          <a:prstGeom prst="rect">
            <a:avLst/>
          </a:prstGeom>
          <a:solidFill>
            <a:srgbClr val="132236"/>
          </a:solidFill>
          <a:ln w="19050">
            <a:solidFill>
              <a:srgbClr val="4D9F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627632"/>
            <a:ext cx="2651760" cy="320040"/>
          </a:xfrm>
          <a:prstGeom prst="rect">
            <a:avLst/>
          </a:prstGeom>
          <a:solidFill>
            <a:srgbClr val="4D9FEC">
              <a:alpha val="80000"/>
            </a:srgbClr>
          </a:solidFill>
          <a:ln w="12700">
            <a:solidFill>
              <a:srgbClr val="4D9F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65506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REPUDIATION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80760" y="2039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puede negar una acción?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99232"/>
            <a:ext cx="2651760" cy="1188720"/>
          </a:xfrm>
          <a:prstGeom prst="rect">
            <a:avLst/>
          </a:prstGeom>
          <a:solidFill>
            <a:srgbClr val="132236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99232"/>
            <a:ext cx="2651760" cy="320040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2666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INFO DISCLOSURE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4107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datos confidenciales pueden escapar?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999232"/>
            <a:ext cx="2651760" cy="1188720"/>
          </a:xfrm>
          <a:prstGeom prst="rect">
            <a:avLst/>
          </a:prstGeom>
          <a:solidFill>
            <a:srgbClr val="132236"/>
          </a:solidFill>
          <a:ln w="19050">
            <a:solidFill>
              <a:srgbClr val="FF9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999232"/>
            <a:ext cx="2651760" cy="320040"/>
          </a:xfrm>
          <a:prstGeom prst="rect">
            <a:avLst/>
          </a:prstGeom>
          <a:solidFill>
            <a:srgbClr val="FF9A3C">
              <a:alpha val="80000"/>
            </a:srgbClr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02666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DOS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46120" y="34107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puede degradar el servicio?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2999232"/>
            <a:ext cx="2651760" cy="1188720"/>
          </a:xfrm>
          <a:prstGeom prst="rect">
            <a:avLst/>
          </a:prstGeom>
          <a:solidFill>
            <a:srgbClr val="132236"/>
          </a:solidFill>
          <a:ln w="19050">
            <a:solidFill>
              <a:srgbClr val="B06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2999232"/>
            <a:ext cx="2651760" cy="320040"/>
          </a:xfrm>
          <a:prstGeom prst="rect">
            <a:avLst/>
          </a:prstGeom>
          <a:solidFill>
            <a:srgbClr val="B06DFF">
              <a:alpha val="80000"/>
            </a:srgbClr>
          </a:solidFill>
          <a:ln w="12700">
            <a:solidFill>
              <a:srgbClr val="B06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02666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ELEVATION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34107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puede escalar privilegios?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Kubernetes preguntamos: ¿Quién puede entrar? ¿Quién puede escalar a root? ¿Qué pods se hablan entre sí?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seguros en Kubernetes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solidFill>
            <a:srgbClr val="FF4D6D">
              <a:alpha val="18000"/>
            </a:srgbClr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NUNCA: credenciales en variables de entorno hardcodeadas o en el código fuente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411480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89888"/>
            <a:ext cx="411480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08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— crear y verificar Secret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682496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CORRECTO: crear Secret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secret generic db-secret -n devsecops-demo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--from-literal=DB_PASSWORD='s3cr3t'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--from-literal=DB_USER='admin'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Verificar (valor en base64, no en claro)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secret db-secret -n devsecops-demo -o yaml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389888"/>
            <a:ext cx="411480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89888"/>
            <a:ext cx="411480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08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— consumir el Secret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CORRECTO: usar el Secret como envVar en el Pod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DB_PASSWORD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valueFrom: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secretKeyRef: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db-secret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key: DB_PASSWORD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Verificar dentro del pod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-n devsecops-demo deploy/webapp --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printenv DB_PASSWORD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18688"/>
            <a:ext cx="26974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18688"/>
            <a:ext cx="54864" cy="1691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31012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≠ cifrado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602736"/>
            <a:ext cx="2441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secret muestra base64, no cifra real. Para cifrado real: etcd encryption at rest.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3218688"/>
            <a:ext cx="26974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3218688"/>
            <a:ext cx="54864" cy="169164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31012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logs de secrets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602736"/>
            <a:ext cx="2441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hagas echo $DB_PASSWORD en un script que genere logs en CI/CD.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3218688"/>
            <a:ext cx="26974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3218688"/>
            <a:ext cx="54864" cy="16916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31012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secrets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3602736"/>
            <a:ext cx="2441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usar Vault o External Secrets Operator para rotación automática.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BUILD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Trivy: Escaneo de vulnerabilidades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96112"/>
            <a:ext cx="8412480" cy="182880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96112"/>
            <a:ext cx="841248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escaneo Trivy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Instalar Trivy (si no está en el nodo master)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-sfL https://raw.githubusercontent.com/aquasecurity/trivy/main/contrib/install.sh | sh -s -- -b /usr/local/bin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Escanear la imagen que usaremos en el laboratorio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 nginx:1.25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Filtrar solo CRITICAL y HIGH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 --severity CRITICAL,HIGH nginx:1.25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Salida limpia (tabla)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 --format table --severity CRITICAL,HIGH nginx:1.25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Interpretando los resultados: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1993392" cy="1572768"/>
          </a:xfrm>
          <a:prstGeom prst="rect">
            <a:avLst/>
          </a:prstGeom>
          <a:solidFill>
            <a:srgbClr val="132236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00400"/>
            <a:ext cx="1993392" cy="320040"/>
          </a:xfrm>
          <a:prstGeom prst="rect">
            <a:avLst/>
          </a:prstGeom>
          <a:solidFill>
            <a:srgbClr val="FF4D6D">
              <a:alpha val="85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004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584448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Explotar remotamente sin autenticación. Bloquear deploy.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14600" y="3200400"/>
            <a:ext cx="1993392" cy="1572768"/>
          </a:xfrm>
          <a:prstGeom prst="rect">
            <a:avLst/>
          </a:prstGeom>
          <a:solidFill>
            <a:srgbClr val="132236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3200400"/>
            <a:ext cx="1993392" cy="320040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2004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584448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explotación local o condición especial. Evaluar.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1993392" cy="1572768"/>
          </a:xfrm>
          <a:prstGeom prst="rect">
            <a:avLst/>
          </a:prstGeom>
          <a:solidFill>
            <a:srgbClr val="132236"/>
          </a:solidFill>
          <a:ln w="19050">
            <a:solidFill>
              <a:srgbClr val="4D9F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200400"/>
            <a:ext cx="1993392" cy="320040"/>
          </a:xfrm>
          <a:prstGeom prst="rect">
            <a:avLst/>
          </a:prstGeom>
          <a:solidFill>
            <a:srgbClr val="4D9FEC">
              <a:alpha val="85000"/>
            </a:srgbClr>
          </a:solidFill>
          <a:ln w="12700">
            <a:solidFill>
              <a:srgbClr val="4D9F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2004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584448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explotar. Priorizar en siguiente sprint.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12280" y="3200400"/>
            <a:ext cx="1993392" cy="1572768"/>
          </a:xfrm>
          <a:prstGeom prst="rect">
            <a:avLst/>
          </a:prstGeom>
          <a:solidFill>
            <a:srgbClr val="132236"/>
          </a:solidFill>
          <a:ln w="19050">
            <a:solidFill>
              <a:srgbClr val="8BA7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3200400"/>
            <a:ext cx="1993392" cy="320040"/>
          </a:xfrm>
          <a:prstGeom prst="rect">
            <a:avLst/>
          </a:prstGeom>
          <a:solidFill>
            <a:srgbClr val="8BA7C0">
              <a:alpha val="85000"/>
            </a:srgbClr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2004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LOW/INFO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3584448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impacto. Documentar y monitorear.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solidFill>
            <a:srgbClr val="00C2CB">
              <a:alpha val="18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8006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CI/CD: trivy image --exit-code 1 --severity CRITICAL ... para romper el pipeline si hay CVEs críticas.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— DEPLOY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PSA: Pod Security Admission + App Insegura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8412480" cy="530352"/>
          </a:xfrm>
          <a:prstGeom prst="rect">
            <a:avLst/>
          </a:prstGeom>
          <a:solidFill>
            <a:srgbClr val="FF4D6D">
              <a:alpha val="20000"/>
            </a:srgbClr>
          </a:solidFill>
          <a:ln w="254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86868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FIX v2.0 — ERROR COMÚN: No incluir namespace: en metadata del YAML. Usar -n devsecops-demo al aplicar.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4114800" cy="146304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08760"/>
            <a:ext cx="411480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27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02-app-insegura.yaml — diff fix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8013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ANTES (causaba error: namespace conflict)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webapp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   ← ERROR: conflicto con -n devsecops-demo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AHORA CORRECTO (02-app-insegura.yaml v2)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webapp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Sin namespace aquí — se pasa con -n al aplicar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114800" cy="146304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508760"/>
            <a:ext cx="411480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27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aplicar correctamente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8013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Crear namespace con PSA baseline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01-namespace.yaml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Desplegar app insegura (SIN namespace en YAML)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02-app-insegura.yaml -n devsecops-demo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Verificar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devsecops-demo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Ver advertencia PSA (warn: restricted)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-n devsecops-demo webapp-*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Levels: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2697480" cy="1371600"/>
          </a:xfrm>
          <a:prstGeom prst="rect">
            <a:avLst/>
          </a:prstGeom>
          <a:solidFill>
            <a:srgbClr val="132236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01568"/>
            <a:ext cx="64008" cy="13716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4930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" y="382219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restricciones (solo para sistema)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8688" y="3401568"/>
            <a:ext cx="2697480" cy="1371600"/>
          </a:xfrm>
          <a:prstGeom prst="rect">
            <a:avLst/>
          </a:prstGeom>
          <a:solidFill>
            <a:srgbClr val="132236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3401568"/>
            <a:ext cx="64008" cy="13716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34930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74136" y="382219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escaladas básicas (default demo)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71616" y="3401568"/>
            <a:ext cx="2697480" cy="1371600"/>
          </a:xfrm>
          <a:prstGeom prst="rect">
            <a:avLst/>
          </a:prstGeom>
          <a:solidFill>
            <a:srgbClr val="132236"/>
          </a:solidFill>
          <a:ln w="19050">
            <a:solidFill>
              <a:srgbClr val="00C89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3401568"/>
            <a:ext cx="64008" cy="13716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34930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27064" y="3822192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estricto — requiere nginx-unprivileged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FF9A3C"/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— RELEASE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NetworkPolicy: Zero Trust de red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solidFill>
            <a:srgbClr val="FF9A3C">
              <a:alpha val="18000"/>
            </a:srgbClr>
          </a:solidFill>
          <a:ln w="19050">
            <a:solidFill>
              <a:srgbClr val="FF9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Patrón: default-deny-all → allow-egress-dns → allow-solo-lo-necesario  (whitelist, no blacklist)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4114800" cy="205740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89888"/>
            <a:ext cx="411480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08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aplicar NetworkPolicies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682496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Aplicar las 3 políticas (SIN namespace en YAML, pasar con -n)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03-network-policy.yaml -n devsecops-demo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Política 1: denegar TODO (incluido egress)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Política 2: permitir DNS (CRÍTICO — sin esto pods no resuelven nombres)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Política 3: permitir ingreso al webapp desde mismo namespace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 SIEMPRE aplicar allow-egress-dns después de deny-all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DNS los pods fallan con: "Name or service not known"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389888"/>
            <a:ext cx="4114800" cy="205740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89888"/>
            <a:ext cx="411480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08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verificar aislamiento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que el aislamiento funciona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Pod en mismo namespace — debe poder llegar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run test-ns -n devsecops-demo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--image=busybox:1.36 --rm -it --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wget -qO- http://webapp-svc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Pod externo (namespace default) — debe FALLAR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run test-ext --image=busybox:1.36 --rm -it --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wget -qO- --timeout=5 http://webapp-svc.devsecops-demo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26974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66160"/>
            <a:ext cx="54864" cy="128016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6576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default-deny-all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95020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todo Ingress+Egress en el namespace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3566160"/>
            <a:ext cx="26974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3566160"/>
            <a:ext cx="54864" cy="12801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6576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allow-egress-dns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95020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:53 UDP/TCP — imprescindible primero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3566160"/>
            <a:ext cx="2697480" cy="128016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3566160"/>
            <a:ext cx="54864" cy="128016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6576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allow-webapp-ingress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395020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desde mismo namespace al webapp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06DFF"/>
          </a:solidFill>
          <a:ln w="12700">
            <a:solidFill>
              <a:srgbClr val="B06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B06DFF"/>
          </a:solidFill>
          <a:ln w="12700">
            <a:solidFill>
              <a:srgbClr val="B06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6 — OPERATE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Mínimo Privilegio con ServiceAccount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96112"/>
            <a:ext cx="8412480" cy="224028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96112"/>
            <a:ext cx="841248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verificar RBAC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8138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Aplicar RBAC (04-rbac.yaml — sin namespace en metadata)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04-rbac.yaml -n devsecops-demo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permisos (what-can-this-SA-do?)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list pods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--as=system:serviceaccount:devsecops-demo:webapp-sa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devsecops-demo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yes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delete pods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--as=system:serviceaccount:devsecops-demo:webapp-sa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devsecops-demo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no   ← mínimo privilegio funcionando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auth can-i list pods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--as=system:serviceaccount:devsecops-demo:webapp-sa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kube-system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no   ← no puede salir del namespace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2697480" cy="114300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246120"/>
            <a:ext cx="54864" cy="1143000"/>
          </a:xfrm>
          <a:prstGeom prst="rect">
            <a:avLst/>
          </a:prstGeom>
          <a:solidFill>
            <a:srgbClr val="B06DFF"/>
          </a:solidFill>
          <a:ln w="12700">
            <a:solidFill>
              <a:srgbClr val="B06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3375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6301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webapp-sa — identidad de la app en K8s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18688" y="3246120"/>
            <a:ext cx="2697480" cy="114300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3246120"/>
            <a:ext cx="54864" cy="11430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3375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6301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webapp-role — CRUD en pods y configmaps (solo este namespace)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71616" y="3246120"/>
            <a:ext cx="2697480" cy="1143000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3246120"/>
            <a:ext cx="54864" cy="1143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33375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RoleBinding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36301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webapp-rolebinding — une SA con Role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498848"/>
            <a:ext cx="8412480" cy="384048"/>
          </a:xfrm>
          <a:prstGeom prst="rect">
            <a:avLst/>
          </a:prstGeom>
          <a:solidFill>
            <a:srgbClr val="B06DFF">
              <a:alpha val="18000"/>
            </a:srgbClr>
          </a:solidFill>
          <a:ln w="19050">
            <a:solidFill>
              <a:srgbClr val="B06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988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Principio de mínimo privilegio: la app SOLO puede hacer lo que necesita. Nada más.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7 — OPERATE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Falco: Runtime Security (Detection)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FFD166">
              <a:alpha val="20000"/>
            </a:srgbClr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68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FIX v2.0 — Falco es DaemonSet: 1 pod/nodo. Las alertas salen en el pod del MISMO nodo donde corre el pod vigilado.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5074920" cy="196596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81328"/>
            <a:ext cx="507492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9961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encontrar el pod Falco correcto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773936"/>
            <a:ext cx="4800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PROCEDIMIENTO CORRECTO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Ver en qué nodo corre el webapp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 -n devsecops-demo -o wide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webapp-xxx  Running  k8s-worker02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Identificar el pod de Falco en ese nodo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NODO="k8s-worker02"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FALCO_POD=$(kubectl get pod -n falco -o wide | grep $NODO | awk '{print $1}')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"Watching: $FALCO_POD"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Ver logs de ESE pod específico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-n falco $FALCO_POD -f | grep -E "Warning|Notice"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9240" y="1481328"/>
            <a:ext cx="3429000" cy="196596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49240" y="1481328"/>
            <a:ext cx="342900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49961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disparar alertas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1773936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Disparar alerta (en otra terminal)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05-trigger-falco.yaml -n devsecops-demo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Disparar shell (genera alerta Notice × 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-n devsecops-demo deploy/webapp -- /bin/bash -c "id"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Alertas esperadas en Falco: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[Notice]  A shell was spawned in a container...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[Warning] Sensitive file opened for reading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by non-trusted program (file=/etc/shadow)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584448"/>
            <a:ext cx="4206240" cy="1188720"/>
          </a:xfrm>
          <a:prstGeom prst="rect">
            <a:avLst/>
          </a:prstGeom>
          <a:solidFill>
            <a:srgbClr val="132236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84448"/>
            <a:ext cx="4206240" cy="29260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02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[Notice] Shell spawned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950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kubectl exec → /bin/bash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584448"/>
            <a:ext cx="4206240" cy="1188720"/>
          </a:xfrm>
          <a:prstGeom prst="rect">
            <a:avLst/>
          </a:prstGeom>
          <a:solidFill>
            <a:srgbClr val="132236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584448"/>
            <a:ext cx="4206240" cy="292608"/>
          </a:xfrm>
          <a:prstGeom prst="rect">
            <a:avLst/>
          </a:prstGeom>
          <a:solidFill>
            <a:srgbClr val="FF4D6D">
              <a:alpha val="8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602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[Warning] Sensitive file read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950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trigger-falco → /etc/shadow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8 — MONITOR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Grafana: Prometheus vs Loki — Datasource correcto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FF4D6D">
              <a:alpha val="20000"/>
            </a:srgbClr>
          </a:solidFill>
          <a:ln w="254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68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ERROR COMÚN: No mezclar PromQL en Loki ni LogQL en Prometheus. Cada query va en su datasource.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4160520" cy="3291840"/>
          </a:xfrm>
          <a:prstGeom prst="rect">
            <a:avLst/>
          </a:prstGeom>
          <a:solidFill>
            <a:srgbClr val="132236"/>
          </a:solidFill>
          <a:ln w="19050">
            <a:solidFill>
              <a:srgbClr val="E652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81328"/>
            <a:ext cx="4160520" cy="347472"/>
          </a:xfrm>
          <a:prstGeom prst="rect">
            <a:avLst/>
          </a:prstGeom>
          <a:solidFill>
            <a:srgbClr val="E6522C">
              <a:alpha val="80000"/>
            </a:srgbClr>
          </a:solidFill>
          <a:ln w="12700">
            <a:solidFill>
              <a:srgbClr val="E652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996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Datasource: PROMETHEUS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Lenguaje: PromQL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dato: Métricas numéricas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487168"/>
            <a:ext cx="4023360" cy="2176272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487168"/>
            <a:ext cx="402336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505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 — queries correctas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" y="2779776"/>
            <a:ext cx="37490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Estado de pods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kube_pod_status_phase{namespace="devsecops-demo"}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CPU 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rate(container_cpu_usage_seconds_total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{namespace="devsecops-demo"}[5m])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Pods Running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kube_pod_status_phase{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namespace="devsecops-demo",phase="Running"}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481328"/>
            <a:ext cx="4160520" cy="3291840"/>
          </a:xfrm>
          <a:prstGeom prst="rect">
            <a:avLst/>
          </a:prstGeom>
          <a:solidFill>
            <a:srgbClr val="132236"/>
          </a:solidFill>
          <a:ln w="19050">
            <a:solidFill>
              <a:srgbClr val="F8E4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481328"/>
            <a:ext cx="4160520" cy="347472"/>
          </a:xfrm>
          <a:prstGeom prst="rect">
            <a:avLst/>
          </a:prstGeom>
          <a:solidFill>
            <a:srgbClr val="F8E45C">
              <a:alpha val="80000"/>
            </a:srgbClr>
          </a:solidFill>
          <a:ln w="12700">
            <a:solidFill>
              <a:srgbClr val="F8E4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4996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Datasource: LOKI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Lenguaje: LogQL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dato: Líneas de log (texto)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27448" y="2487168"/>
            <a:ext cx="4023360" cy="2176272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487168"/>
            <a:ext cx="402336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505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LogQL — queries correctas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779776"/>
            <a:ext cx="37490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Combinada (regex namespace con =~)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{namespace=~"devsecops-demo|falco"} |~ "error|Warning"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Solo alertas Warning de Falco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{namespace="falco"} |= "Warning"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Shell spawned en Falco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{namespace="falco"} |= "shell was spawned"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INCORRECTO (PromQL en Loki → error)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kube_pod_status_phase{namespace="devsecops-demo"}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de LogQL y sus soluciones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68680"/>
            <a:ext cx="8503920" cy="1508760"/>
          </a:xfrm>
          <a:prstGeom prst="rect">
            <a:avLst/>
          </a:prstGeom>
          <a:solidFill>
            <a:srgbClr val="132236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14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1: parse error: unexpected IDENTIFIER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Se escribió una query PromQL (kube_pod_status_phase{...}) en el datasource Loki.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Solución: En Grafana Explore, cambiar el datasource de Loki → Prometheus antes de ejecutar la PromQL.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87168"/>
            <a:ext cx="8503920" cy="1508760"/>
          </a:xfrm>
          <a:prstGeom prst="rect">
            <a:avLst/>
          </a:prstGeom>
          <a:solidFill>
            <a:srgbClr val="132236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5328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2: unexpected type for left leg of binary operation (or): *syntax.PipelineExpr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852928"/>
            <a:ext cx="7863840" cy="1078992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" y="2944368"/>
            <a:ext cx="7589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INCORRECTO — or no es operador válido entre pipelines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{namespace="devsecops-demo"} |= "error" or {namespace="falco"} |= "Warning"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CORRECTO — regex en selector de namespace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{namespace=~"devsecops-demo|falco"} |~ "error|Warning"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4114800"/>
            <a:ext cx="8503920" cy="822960"/>
          </a:xfrm>
          <a:prstGeom prst="rect">
            <a:avLst/>
          </a:prstGeom>
          <a:solidFill>
            <a:srgbClr val="132236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3: No logs found — para devsecops-demo con filtro |= "error"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4622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Esperado: nginx-unprivileged en operación normal NO genera logs con la palabra "error". Forzar un 404 para verlos.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errores comunes → Fixes aplicados en v2.0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920240"/>
                <a:gridCol w="2560320"/>
                <a:gridCol w="31089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aplicado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4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4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 conflict al aplicar YAML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A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namespace: default en metadata del YAML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8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namespace: del metadata; usar -n devsecops-demo al aplicar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(Falco)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4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aparecen alertas de Falco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A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Watching pod incorrecto (nodo equivocado)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8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Identificar nodo del webapp → ver logs del pod Falco en ese nodo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(Loki)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4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unexpected IDENTIFIER en Loki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A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PromQL ejecutada en datasource Loki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8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datasource a Prometheus para queries PromQL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(LogQL)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4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operation (or): PipelineExpr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A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 or entre pipelines LogQL (no válido)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8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regex: {namespace=~"a|b"} |~ "x|y"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(App)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logs found en devsecops-demo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BA7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sana no genera logs con string "error"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ESPERADO. Forzar 404 para generar log de error en nginx.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resultados esperados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961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8961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devsecops-demo creado con PSA baseline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819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5819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581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" y="15819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deployment Running en devsecops-demo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2677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677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22677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db-secret creado y consumido como envVar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535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535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535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" y="29535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reporta CVEs CRITICAL/HIGH en nginx:1.25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393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6393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6393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" y="36393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NetworkPolicy: pod externo NO puede llegar a webapp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3251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3251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3251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392" y="43251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webapp-sa puede list pods pero NO delete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27448" y="8961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27448" y="8961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8961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8961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genera alerta Warning (file=/etc/shadow)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27448" y="15819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15819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1581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57800" y="15819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genera alerta Notice × 3 (shell spawned en webapp)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27448" y="22677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27448" y="22677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22677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57800" y="22677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Prometheus: kube_pod_status_phase visible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27448" y="29535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7448" y="29535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27448" y="29535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257800" y="29535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Loki: {namespace=~"devsecops-demo|falco"} |~ "error|Warning" → logs encontrados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27448" y="3639312"/>
            <a:ext cx="4206240" cy="566928"/>
          </a:xfrm>
          <a:prstGeom prst="rect">
            <a:avLst/>
          </a:prstGeom>
          <a:solidFill>
            <a:srgbClr val="13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27448" y="3639312"/>
            <a:ext cx="457200" cy="56692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27448" y="36393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257800" y="36393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Loki: {namespace="falco"} |= "Warning" → spike en gráfica de volumen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— 2h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Ansible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repetir el mismo ciclo DevSecOps pero 100% automatizado con Ansible roles.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697480" cy="1170432"/>
          </a:xfrm>
          <a:prstGeom prst="rect">
            <a:avLst/>
          </a:prstGeom>
          <a:solidFill>
            <a:srgbClr val="132236"/>
          </a:solidFill>
          <a:ln w="19050">
            <a:solidFill>
              <a:srgbClr val="4D9F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89888"/>
            <a:ext cx="2697480" cy="292608"/>
          </a:xfrm>
          <a:prstGeom prst="rect">
            <a:avLst/>
          </a:prstGeom>
          <a:solidFill>
            <a:srgbClr val="4D9FEC">
              <a:alpha val="80000"/>
            </a:srgbClr>
          </a:solidFill>
          <a:ln w="12700">
            <a:solidFill>
              <a:srgbClr val="4D9F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08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k8s-namespace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namespace + PSA labels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389888"/>
            <a:ext cx="2697480" cy="1170432"/>
          </a:xfrm>
          <a:prstGeom prst="rect">
            <a:avLst/>
          </a:prstGeom>
          <a:solidFill>
            <a:srgbClr val="132236"/>
          </a:solidFill>
          <a:ln w="19050">
            <a:solidFill>
              <a:srgbClr val="00C89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389888"/>
            <a:ext cx="2697480" cy="292608"/>
          </a:xfrm>
          <a:prstGeom prst="rect">
            <a:avLst/>
          </a:prstGeom>
          <a:solidFill>
            <a:srgbClr val="00C897">
              <a:alpha val="80000"/>
            </a:srgbClr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408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k8s-secrets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75564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Secrets desde vault/vars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25896" y="1389888"/>
            <a:ext cx="2697480" cy="1170432"/>
          </a:xfrm>
          <a:prstGeom prst="rect">
            <a:avLst/>
          </a:prstGeom>
          <a:solidFill>
            <a:srgbClr val="132236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389888"/>
            <a:ext cx="2697480" cy="292608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408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k8s-deploy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17336" y="175564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deployments + services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715768"/>
            <a:ext cx="2697480" cy="1170432"/>
          </a:xfrm>
          <a:prstGeom prst="rect">
            <a:avLst/>
          </a:prstGeom>
          <a:solidFill>
            <a:srgbClr val="132236"/>
          </a:solidFill>
          <a:ln w="19050">
            <a:solidFill>
              <a:srgbClr val="FF9A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15768"/>
            <a:ext cx="2697480" cy="292608"/>
          </a:xfrm>
          <a:prstGeom prst="rect">
            <a:avLst/>
          </a:prstGeom>
          <a:solidFill>
            <a:srgbClr val="FF9A3C">
              <a:alpha val="80000"/>
            </a:srgbClr>
          </a:solidFill>
          <a:ln w="12700">
            <a:solidFill>
              <a:srgbClr val="FF9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340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k8s-network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0815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NetworkPolicies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715768"/>
            <a:ext cx="2697480" cy="1170432"/>
          </a:xfrm>
          <a:prstGeom prst="rect">
            <a:avLst/>
          </a:prstGeom>
          <a:solidFill>
            <a:srgbClr val="132236"/>
          </a:solidFill>
          <a:ln w="19050">
            <a:solidFill>
              <a:srgbClr val="B06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715768"/>
            <a:ext cx="2697480" cy="292608"/>
          </a:xfrm>
          <a:prstGeom prst="rect">
            <a:avLst/>
          </a:prstGeom>
          <a:solidFill>
            <a:srgbClr val="B06DFF">
              <a:alpha val="80000"/>
            </a:srgbClr>
          </a:solidFill>
          <a:ln w="12700">
            <a:solidFill>
              <a:srgbClr val="B06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7340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k8s-rbac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64408" y="30815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+ Role + RoleBinding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25896" y="2715768"/>
            <a:ext cx="2697480" cy="1170432"/>
          </a:xfrm>
          <a:prstGeom prst="rect">
            <a:avLst/>
          </a:prstGeom>
          <a:solidFill>
            <a:srgbClr val="132236"/>
          </a:solidFill>
          <a:ln w="19050">
            <a:solidFill>
              <a:srgbClr val="FF6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25896" y="2715768"/>
            <a:ext cx="2697480" cy="292608"/>
          </a:xfrm>
          <a:prstGeom prst="rect">
            <a:avLst/>
          </a:prstGeom>
          <a:solidFill>
            <a:srgbClr val="FF6B9D">
              <a:alpha val="8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27340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k8s-monitoring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17336" y="30815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Falco + queries Loki/Prometheus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041648"/>
            <a:ext cx="8503920" cy="1024128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041648"/>
            <a:ext cx="8503920" cy="2560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599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ejecutar Ansible playbook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33425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 el playbook completo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ansible-playbook -i inventory/k8s devsecops-playbook.yaml -v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Solo un stage específico (tag)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ansible-playbook devsecops-playbook.yaml --tags "rbac,network"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Dry-run (check mode)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ansible-playbook devsecops-playbook.yaml --check --diff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solidFill>
            <a:srgbClr val="132236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= Seguridad desde el primer commit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264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etapa final, es una práctica continua integrada en todo el ciclo.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8503920" cy="868680"/>
          </a:xfrm>
          <a:prstGeom prst="rect">
            <a:avLst/>
          </a:prstGeom>
          <a:solidFill>
            <a:srgbClr val="132236"/>
          </a:solidFill>
          <a:ln w="19050">
            <a:solidFill>
              <a:srgbClr val="00C89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57400"/>
            <a:ext cx="64008" cy="86868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84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Fallar rápido = detectar antes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Trivy, PSA y NetworkPolicy fallan el deploy ANTES de que llegue a producción.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8503920" cy="868680"/>
          </a:xfrm>
          <a:prstGeom prst="rect">
            <a:avLst/>
          </a:prstGeom>
          <a:solidFill>
            <a:srgbClr val="132236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64008" cy="86868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90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security no es opcional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43814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detecta amenazas que los controles estáticos no ven (zero-day behavior).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4069080"/>
            <a:ext cx="8503920" cy="868680"/>
          </a:xfrm>
          <a:prstGeom prst="rect">
            <a:avLst/>
          </a:prstGeom>
          <a:solidFill>
            <a:srgbClr val="132236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4069080"/>
            <a:ext cx="64008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96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= Métricas + Logs (datasource!)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44439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→ PromQL → Grafana. Loki → LogQL → Grafana. Nunca mezclar.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kubernetes-devops  ·  Módulo DevSecOps  ·  v2.0 corregido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DevSecOps — Seguridad en Kubernetes</dc:title>
  <dc:subject>PptxGenJS Presentation</dc:subject>
  <dc:creator>PptxGenJS</dc:creator>
  <cp:lastModifiedBy>PptxGenJS</cp:lastModifiedBy>
  <cp:revision>1</cp:revision>
  <dcterms:created xsi:type="dcterms:W3CDTF">2026-03-20T23:47:30Z</dcterms:created>
  <dcterms:modified xsi:type="dcterms:W3CDTF">2026-03-20T23:47:30Z</dcterms:modified>
</cp:coreProperties>
</file>